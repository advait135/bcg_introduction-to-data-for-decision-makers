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74" d="100"/>
          <a:sy n="74" d="100"/>
        </p:scale>
        <p:origin x="300" y="5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Gurunath%20Chavan\Desktop\LEARNING\Forage\BCG_Introduction%20to%20Data%20for%20Decision%20Makers\Campaign_Data_Week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Gurunath%20Chavan\Desktop\LEARNING\Forage\BCG_Introduction%20to%20Data%20for%20Decision%20Makers\Campaign_Data_Week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Gurunath%20Chavan\Desktop\LEARNING\Forage\BCG_Introduction%20to%20Data%20for%20Decision%20Makers\Campaign_Data_Week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Gurunath%20Chavan\Desktop\LEARNING\Forage\BCG_Introduction%20to%20Data%20for%20Decision%20Makers\Campaign_Data_Week1.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[Campaign_Data_Week1.xlsx]Insights!PivotTable1</c:name>
    <c:fmtId val="11"/>
  </c:pivotSource>
  <c:chart>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dLbl>
          <c:idx val="0"/>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dLbl>
          <c:idx val="0"/>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dLbl>
          <c:idx val="0"/>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Insights!$B$3:$B$4</c:f>
              <c:strCache>
                <c:ptCount val="1"/>
                <c:pt idx="0">
                  <c:v>A</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Insights!$A$5:$A$8</c:f>
              <c:strCache>
                <c:ptCount val="3"/>
                <c:pt idx="0">
                  <c:v>Email</c:v>
                </c:pt>
                <c:pt idx="1">
                  <c:v>Instagram</c:v>
                </c:pt>
                <c:pt idx="2">
                  <c:v>Web Banner</c:v>
                </c:pt>
              </c:strCache>
            </c:strRef>
          </c:cat>
          <c:val>
            <c:numRef>
              <c:f>Insights!$B$5:$B$8</c:f>
              <c:numCache>
                <c:formatCode>General</c:formatCode>
                <c:ptCount val="3"/>
                <c:pt idx="0">
                  <c:v>2124.4700000000003</c:v>
                </c:pt>
                <c:pt idx="1">
                  <c:v>969.46</c:v>
                </c:pt>
                <c:pt idx="2">
                  <c:v>633.06000000000006</c:v>
                </c:pt>
              </c:numCache>
            </c:numRef>
          </c:val>
          <c:extLst>
            <c:ext xmlns:c16="http://schemas.microsoft.com/office/drawing/2014/chart" uri="{C3380CC4-5D6E-409C-BE32-E72D297353CC}">
              <c16:uniqueId val="{00000000-9FF6-43A5-BC66-4CFBEB21D242}"/>
            </c:ext>
          </c:extLst>
        </c:ser>
        <c:ser>
          <c:idx val="1"/>
          <c:order val="1"/>
          <c:tx>
            <c:strRef>
              <c:f>Insights!$C$3:$C$4</c:f>
              <c:strCache>
                <c:ptCount val="1"/>
                <c:pt idx="0">
                  <c:v>B</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Insights!$A$5:$A$8</c:f>
              <c:strCache>
                <c:ptCount val="3"/>
                <c:pt idx="0">
                  <c:v>Email</c:v>
                </c:pt>
                <c:pt idx="1">
                  <c:v>Instagram</c:v>
                </c:pt>
                <c:pt idx="2">
                  <c:v>Web Banner</c:v>
                </c:pt>
              </c:strCache>
            </c:strRef>
          </c:cat>
          <c:val>
            <c:numRef>
              <c:f>Insights!$C$5:$C$8</c:f>
              <c:numCache>
                <c:formatCode>General</c:formatCode>
                <c:ptCount val="3"/>
                <c:pt idx="0">
                  <c:v>1382.3799999999999</c:v>
                </c:pt>
                <c:pt idx="1">
                  <c:v>416.14</c:v>
                </c:pt>
                <c:pt idx="2">
                  <c:v>318.92000000000007</c:v>
                </c:pt>
              </c:numCache>
            </c:numRef>
          </c:val>
          <c:extLst>
            <c:ext xmlns:c16="http://schemas.microsoft.com/office/drawing/2014/chart" uri="{C3380CC4-5D6E-409C-BE32-E72D297353CC}">
              <c16:uniqueId val="{00000001-9FF6-43A5-BC66-4CFBEB21D242}"/>
            </c:ext>
          </c:extLst>
        </c:ser>
        <c:dLbls>
          <c:showLegendKey val="0"/>
          <c:showVal val="1"/>
          <c:showCatName val="0"/>
          <c:showSerName val="0"/>
          <c:showPercent val="0"/>
          <c:showBubbleSize val="0"/>
        </c:dLbls>
        <c:gapWidth val="150"/>
        <c:shape val="box"/>
        <c:axId val="1328295392"/>
        <c:axId val="1328287712"/>
        <c:axId val="0"/>
      </c:bar3DChart>
      <c:catAx>
        <c:axId val="132829539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328287712"/>
        <c:crosses val="autoZero"/>
        <c:auto val="1"/>
        <c:lblAlgn val="ctr"/>
        <c:lblOffset val="100"/>
        <c:noMultiLvlLbl val="0"/>
      </c:catAx>
      <c:valAx>
        <c:axId val="1328287712"/>
        <c:scaling>
          <c:orientation val="minMax"/>
        </c:scaling>
        <c:delete val="0"/>
        <c:axPos val="l"/>
        <c:majorGridlines>
          <c:spPr>
            <a:ln w="9525" cap="flat" cmpd="sng" algn="ctr">
              <a:solidFill>
                <a:schemeClr val="dk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32829539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[Campaign_Data_Week1.xlsx]Insights!PivotTable2</c:name>
    <c:fmtId val="30"/>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a:scene3d>
              <a:camera prst="orthographicFront">
                <a:rot lat="0" lon="0" rev="0"/>
              </a:camera>
              <a:lightRig rig="twoPt" dir="tl"/>
            </a:scene3d>
            <a:sp3d prstMaterial="flat">
              <a:bevelT w="12700" h="25400" prst="coolSlant"/>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cked"/>
        <c:varyColors val="0"/>
        <c:ser>
          <c:idx val="0"/>
          <c:order val="0"/>
          <c:tx>
            <c:strRef>
              <c:f>Insights!$B$31:$B$32</c:f>
              <c:strCache>
                <c:ptCount val="1"/>
                <c:pt idx="0">
                  <c:v>Email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Insights!$A$33:$A$35</c:f>
              <c:strCache>
                <c:ptCount val="2"/>
                <c:pt idx="0">
                  <c:v>A</c:v>
                </c:pt>
                <c:pt idx="1">
                  <c:v>B</c:v>
                </c:pt>
              </c:strCache>
            </c:strRef>
          </c:cat>
          <c:val>
            <c:numRef>
              <c:f>Insights!$B$33:$B$35</c:f>
              <c:numCache>
                <c:formatCode>General</c:formatCode>
                <c:ptCount val="2"/>
                <c:pt idx="0">
                  <c:v>41</c:v>
                </c:pt>
                <c:pt idx="1">
                  <c:v>72</c:v>
                </c:pt>
              </c:numCache>
            </c:numRef>
          </c:val>
          <c:extLst>
            <c:ext xmlns:c16="http://schemas.microsoft.com/office/drawing/2014/chart" uri="{C3380CC4-5D6E-409C-BE32-E72D297353CC}">
              <c16:uniqueId val="{00000000-88B9-4A76-8CBF-7BB69F1C6A10}"/>
            </c:ext>
          </c:extLst>
        </c:ser>
        <c:ser>
          <c:idx val="1"/>
          <c:order val="1"/>
          <c:tx>
            <c:strRef>
              <c:f>Insights!$C$31:$C$32</c:f>
              <c:strCache>
                <c:ptCount val="1"/>
                <c:pt idx="0">
                  <c:v>Instagram</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Insights!$A$33:$A$35</c:f>
              <c:strCache>
                <c:ptCount val="2"/>
                <c:pt idx="0">
                  <c:v>A</c:v>
                </c:pt>
                <c:pt idx="1">
                  <c:v>B</c:v>
                </c:pt>
              </c:strCache>
            </c:strRef>
          </c:cat>
          <c:val>
            <c:numRef>
              <c:f>Insights!$C$33:$C$35</c:f>
              <c:numCache>
                <c:formatCode>General</c:formatCode>
                <c:ptCount val="2"/>
                <c:pt idx="0">
                  <c:v>35</c:v>
                </c:pt>
                <c:pt idx="1">
                  <c:v>29</c:v>
                </c:pt>
              </c:numCache>
            </c:numRef>
          </c:val>
          <c:extLst>
            <c:ext xmlns:c16="http://schemas.microsoft.com/office/drawing/2014/chart" uri="{C3380CC4-5D6E-409C-BE32-E72D297353CC}">
              <c16:uniqueId val="{00000001-88B9-4A76-8CBF-7BB69F1C6A10}"/>
            </c:ext>
          </c:extLst>
        </c:ser>
        <c:ser>
          <c:idx val="2"/>
          <c:order val="2"/>
          <c:tx>
            <c:strRef>
              <c:f>Insights!$D$31:$D$32</c:f>
              <c:strCache>
                <c:ptCount val="1"/>
                <c:pt idx="0">
                  <c:v>Web Banner</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woPt" dir="tl"/>
            </a:scene3d>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2">
                        <a:lumMod val="1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Insights!$A$33:$A$35</c:f>
              <c:strCache>
                <c:ptCount val="2"/>
                <c:pt idx="0">
                  <c:v>A</c:v>
                </c:pt>
                <c:pt idx="1">
                  <c:v>B</c:v>
                </c:pt>
              </c:strCache>
            </c:strRef>
          </c:cat>
          <c:val>
            <c:numRef>
              <c:f>Insights!$D$33:$D$35</c:f>
              <c:numCache>
                <c:formatCode>General</c:formatCode>
                <c:ptCount val="2"/>
                <c:pt idx="0">
                  <c:v>17</c:v>
                </c:pt>
                <c:pt idx="1">
                  <c:v>45</c:v>
                </c:pt>
              </c:numCache>
            </c:numRef>
          </c:val>
          <c:extLst>
            <c:ext xmlns:c16="http://schemas.microsoft.com/office/drawing/2014/chart" uri="{C3380CC4-5D6E-409C-BE32-E72D297353CC}">
              <c16:uniqueId val="{00000002-88B9-4A76-8CBF-7BB69F1C6A10}"/>
            </c:ext>
          </c:extLst>
        </c:ser>
        <c:dLbls>
          <c:showLegendKey val="0"/>
          <c:showVal val="1"/>
          <c:showCatName val="0"/>
          <c:showSerName val="0"/>
          <c:showPercent val="0"/>
          <c:showBubbleSize val="0"/>
        </c:dLbls>
        <c:gapWidth val="150"/>
        <c:shape val="box"/>
        <c:axId val="1607442688"/>
        <c:axId val="1607450368"/>
        <c:axId val="0"/>
      </c:bar3DChart>
      <c:catAx>
        <c:axId val="160744268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607450368"/>
        <c:crosses val="autoZero"/>
        <c:auto val="1"/>
        <c:lblAlgn val="ctr"/>
        <c:lblOffset val="100"/>
        <c:noMultiLvlLbl val="0"/>
      </c:catAx>
      <c:valAx>
        <c:axId val="1607450368"/>
        <c:scaling>
          <c:orientation val="minMax"/>
        </c:scaling>
        <c:delete val="0"/>
        <c:axPos val="l"/>
        <c:majorGridlines>
          <c:spPr>
            <a:ln w="9525" cap="flat" cmpd="sng" algn="ctr">
              <a:solidFill>
                <a:schemeClr val="dk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607442688"/>
        <c:crosses val="autoZero"/>
        <c:crossBetween val="between"/>
      </c:valAx>
      <c:spPr>
        <a:noFill/>
        <a:ln>
          <a:noFill/>
        </a:ln>
        <a:effectLst/>
      </c:spPr>
    </c:plotArea>
    <c:legend>
      <c:legendPos val="r"/>
      <c:layout>
        <c:manualLayout>
          <c:xMode val="edge"/>
          <c:yMode val="edge"/>
          <c:x val="0.71838062113162071"/>
          <c:y val="0.53238119988243282"/>
          <c:w val="0.27727173139069944"/>
          <c:h val="0.2585319216418220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[Campaign_Data_Week1.xlsx]Insights!PivotTable3</c:name>
    <c:fmtId val="43"/>
  </c:pivotSource>
  <c:chart>
    <c:autoTitleDeleted val="1"/>
    <c:pivotFmts>
      <c:pivotFmt>
        <c:idx val="0"/>
        <c:dLbl>
          <c:idx val="0"/>
          <c:dLblPos val="ctr"/>
          <c:showLegendKey val="0"/>
          <c:showVal val="0"/>
          <c:showCatName val="0"/>
          <c:showSerName val="0"/>
          <c:showPercent val="1"/>
          <c:showBubbleSize val="0"/>
          <c:extLst>
            <c:ext xmlns:c15="http://schemas.microsoft.com/office/drawing/2012/chart" uri="{CE6537A1-D6FC-4f65-9D91-7224C49458BB}"/>
          </c:extLst>
        </c:dLbl>
      </c:pivotFmt>
      <c:pivotFmt>
        <c:idx val="1"/>
        <c:dLbl>
          <c:idx val="0"/>
          <c:dLblPos val="ctr"/>
          <c:showLegendKey val="0"/>
          <c:showVal val="0"/>
          <c:showCatName val="0"/>
          <c:showSerName val="0"/>
          <c:showPercent val="1"/>
          <c:showBubbleSize val="0"/>
          <c:extLst>
            <c:ext xmlns:c15="http://schemas.microsoft.com/office/drawing/2012/chart" uri="{CE6537A1-D6FC-4f65-9D91-7224C49458BB}"/>
          </c:extLst>
        </c:dLbl>
      </c:pivotFmt>
      <c:pivotFmt>
        <c:idx val="2"/>
        <c:dLbl>
          <c:idx val="0"/>
          <c:dLblPos val="ctr"/>
          <c:showLegendKey val="0"/>
          <c:showVal val="0"/>
          <c:showCatName val="0"/>
          <c:showSerName val="0"/>
          <c:showPercent val="1"/>
          <c:showBubbleSize val="0"/>
          <c:extLst>
            <c:ext xmlns:c15="http://schemas.microsoft.com/office/drawing/2012/chart" uri="{CE6537A1-D6FC-4f65-9D91-7224C49458BB}"/>
          </c:extLst>
        </c:dLbl>
      </c:pivotFmt>
      <c:pivotFmt>
        <c:idx val="3"/>
        <c:dLbl>
          <c:idx val="0"/>
          <c:dLblPos val="ctr"/>
          <c:showLegendKey val="0"/>
          <c:showVal val="0"/>
          <c:showCatName val="0"/>
          <c:showSerName val="0"/>
          <c:showPercent val="1"/>
          <c:showBubbleSize val="0"/>
          <c:extLst>
            <c:ext xmlns:c15="http://schemas.microsoft.com/office/drawing/2012/chart" uri="{CE6537A1-D6FC-4f65-9D91-7224C49458BB}"/>
          </c:extLst>
        </c:dLbl>
      </c:pivotFmt>
      <c:pivotFmt>
        <c:idx val="4"/>
        <c:dLbl>
          <c:idx val="0"/>
          <c:dLblPos val="ctr"/>
          <c:showLegendKey val="0"/>
          <c:showVal val="0"/>
          <c:showCatName val="0"/>
          <c:showSerName val="0"/>
          <c:showPercent val="1"/>
          <c:showBubbleSize val="0"/>
          <c:extLst>
            <c:ext xmlns:c15="http://schemas.microsoft.com/office/drawing/2012/chart" uri="{CE6537A1-D6FC-4f65-9D91-7224C49458BB}"/>
          </c:extLst>
        </c:dLbl>
      </c:pivotFmt>
      <c:pivotFmt>
        <c:idx val="5"/>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circle"/>
          <c:size val="6"/>
        </c:marker>
        <c:dLbl>
          <c:idx val="0"/>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6"/>
        <c:dLbl>
          <c:idx val="0"/>
          <c:dLblPos val="inEnd"/>
          <c:showLegendKey val="0"/>
          <c:showVal val="0"/>
          <c:showCatName val="1"/>
          <c:showSerName val="0"/>
          <c:showPercent val="1"/>
          <c:showBubbleSize val="0"/>
          <c:extLst>
            <c:ext xmlns:c15="http://schemas.microsoft.com/office/drawing/2012/chart" uri="{CE6537A1-D6FC-4f65-9D91-7224C49458BB}"/>
          </c:extLst>
        </c:dLbl>
      </c:pivotFmt>
      <c:pivotFmt>
        <c:idx val="7"/>
        <c:dLbl>
          <c:idx val="0"/>
          <c:dLblPos val="inEnd"/>
          <c:showLegendKey val="0"/>
          <c:showVal val="0"/>
          <c:showCatName val="1"/>
          <c:showSerName val="0"/>
          <c:showPercent val="1"/>
          <c:showBubbleSize val="0"/>
          <c:extLst>
            <c:ext xmlns:c15="http://schemas.microsoft.com/office/drawing/2012/chart" uri="{CE6537A1-D6FC-4f65-9D91-7224C49458BB}"/>
          </c:extLst>
        </c:dLbl>
      </c:pivotFmt>
      <c:pivotFmt>
        <c:idx val="8"/>
        <c:dLbl>
          <c:idx val="0"/>
          <c:dLblPos val="inEnd"/>
          <c:showLegendKey val="0"/>
          <c:showVal val="0"/>
          <c:showCatName val="1"/>
          <c:showSerName val="0"/>
          <c:showPercent val="1"/>
          <c:showBubbleSize val="0"/>
          <c:extLst>
            <c:ext xmlns:c15="http://schemas.microsoft.com/office/drawing/2012/chart" uri="{CE6537A1-D6FC-4f65-9D91-7224C49458BB}"/>
          </c:extLst>
        </c:dLbl>
      </c:pivotFmt>
      <c:pivotFmt>
        <c:idx val="9"/>
        <c:dLbl>
          <c:idx val="0"/>
          <c:layout>
            <c:manualLayout>
              <c:x val="5.9577784670181794E-2"/>
              <c:y val="1.6018883056284631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0"/>
        <c:dLbl>
          <c:idx val="0"/>
          <c:layout>
            <c:manualLayout>
              <c:x val="-0.11568379873735606"/>
              <c:y val="-2.7734033245844694E-3"/>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1"/>
        <c:dLbl>
          <c:idx val="0"/>
          <c:layout>
            <c:manualLayout>
              <c:x val="-0.12054027554052567"/>
              <c:y val="0.16214712744240295"/>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2"/>
        <c:dLbl>
          <c:idx val="0"/>
          <c:layout>
            <c:manualLayout>
              <c:x val="-9.2678866221773126E-2"/>
              <c:y val="0.21801618547681531"/>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3"/>
        <c:dLbl>
          <c:idx val="0"/>
          <c:layout>
            <c:manualLayout>
              <c:x val="1.28585578645109E-2"/>
              <c:y val="-1.7334864391951005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4"/>
        <c:dLbl>
          <c:idx val="0"/>
          <c:layout>
            <c:manualLayout>
              <c:x val="9.3681577604578334E-2"/>
              <c:y val="1.8272090988626422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16"/>
        <c:spPr>
          <a:solidFill>
            <a:schemeClr val="accent2">
              <a:alpha val="90000"/>
            </a:schemeClr>
          </a:solidFill>
          <a:ln w="19050">
            <a:solidFill>
              <a:schemeClr val="accent2">
                <a:lumMod val="75000"/>
              </a:schemeClr>
            </a:solidFill>
          </a:ln>
          <a:effectLst>
            <a:innerShdw blurRad="114300">
              <a:schemeClr val="accent2">
                <a:lumMod val="75000"/>
              </a:schemeClr>
            </a:innerShdw>
          </a:effectLst>
          <a:scene3d>
            <a:camera prst="orthographicFront"/>
            <a:lightRig rig="threePt" dir="t"/>
          </a:scene3d>
          <a:sp3d contourW="19050" prstMaterial="flat">
            <a:contourClr>
              <a:schemeClr val="accent2">
                <a:lumMod val="75000"/>
              </a:schemeClr>
            </a:contourClr>
          </a:sp3d>
        </c:spPr>
        <c:dLbl>
          <c:idx val="0"/>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xForSave val="1"/>
            </c:ext>
          </c:extLst>
        </c:dLbl>
      </c:pivotFmt>
      <c:pivotFmt>
        <c:idx val="17"/>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none"/>
        </c:marker>
        <c:dLbl>
          <c:idx val="0"/>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8"/>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none"/>
        </c:marker>
        <c:dLbl>
          <c:idx val="0"/>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21"/>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22"/>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s>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10169116042437722"/>
          <c:y val="0.17163158156568459"/>
          <c:w val="0.89130992930866271"/>
          <c:h val="0.82836867931111591"/>
        </c:manualLayout>
      </c:layout>
      <c:pie3DChart>
        <c:varyColors val="1"/>
        <c:ser>
          <c:idx val="0"/>
          <c:order val="0"/>
          <c:tx>
            <c:strRef>
              <c:f>Insights!$B$59</c:f>
              <c:strCache>
                <c:ptCount val="1"/>
                <c:pt idx="0">
                  <c:v>Total</c:v>
                </c:pt>
              </c:strCache>
            </c:strRef>
          </c:tx>
          <c:dPt>
            <c:idx val="0"/>
            <c:bubble3D val="0"/>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extLst>
              <c:ext xmlns:c16="http://schemas.microsoft.com/office/drawing/2014/chart" uri="{C3380CC4-5D6E-409C-BE32-E72D297353CC}">
                <c16:uniqueId val="{00000001-344E-4BF6-9A03-7487AE08887E}"/>
              </c:ext>
            </c:extLst>
          </c:dPt>
          <c:dPt>
            <c:idx val="1"/>
            <c:bubble3D val="0"/>
            <c:spPr>
              <a:solidFill>
                <a:schemeClr val="accent2">
                  <a:alpha val="90000"/>
                </a:schemeClr>
              </a:solidFill>
              <a:ln w="19050">
                <a:solidFill>
                  <a:schemeClr val="accent2">
                    <a:lumMod val="75000"/>
                  </a:schemeClr>
                </a:solidFill>
              </a:ln>
              <a:effectLst>
                <a:innerShdw blurRad="114300">
                  <a:schemeClr val="accent2">
                    <a:lumMod val="75000"/>
                  </a:schemeClr>
                </a:innerShdw>
              </a:effectLst>
              <a:scene3d>
                <a:camera prst="orthographicFront"/>
                <a:lightRig rig="threePt" dir="t"/>
              </a:scene3d>
              <a:sp3d contourW="19050" prstMaterial="flat">
                <a:contourClr>
                  <a:schemeClr val="accent2">
                    <a:lumMod val="75000"/>
                  </a:schemeClr>
                </a:contourClr>
              </a:sp3d>
            </c:spPr>
            <c:extLst>
              <c:ext xmlns:c16="http://schemas.microsoft.com/office/drawing/2014/chart" uri="{C3380CC4-5D6E-409C-BE32-E72D297353CC}">
                <c16:uniqueId val="{00000003-344E-4BF6-9A03-7487AE08887E}"/>
              </c:ext>
            </c:extLst>
          </c:dPt>
          <c:dLbls>
            <c:dLbl>
              <c:idx val="0"/>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0"/>
              <c:showCatName val="1"/>
              <c:showSerName val="0"/>
              <c:showPercent val="1"/>
              <c:showBubbleSize val="0"/>
              <c:extLst>
                <c:ext xmlns:c16="http://schemas.microsoft.com/office/drawing/2014/chart" uri="{C3380CC4-5D6E-409C-BE32-E72D297353CC}">
                  <c16:uniqueId val="{00000001-344E-4BF6-9A03-7487AE08887E}"/>
                </c:ext>
              </c:extLst>
            </c:dLbl>
            <c:dLbl>
              <c:idx val="1"/>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2"/>
                      </a:solidFill>
                      <a:effectLst/>
                      <a:latin typeface="+mn-lt"/>
                      <a:ea typeface="+mn-ea"/>
                      <a:cs typeface="+mn-cs"/>
                    </a:defRPr>
                  </a:pPr>
                  <a:endParaRPr lang="en-US"/>
                </a:p>
              </c:txPr>
              <c:dLblPos val="inEnd"/>
              <c:showLegendKey val="0"/>
              <c:showVal val="0"/>
              <c:showCatName val="1"/>
              <c:showSerName val="0"/>
              <c:showPercent val="1"/>
              <c:showBubbleSize val="0"/>
              <c:extLst>
                <c:ext xmlns:c16="http://schemas.microsoft.com/office/drawing/2014/chart" uri="{C3380CC4-5D6E-409C-BE32-E72D297353CC}">
                  <c16:uniqueId val="{00000003-344E-4BF6-9A03-7487AE08887E}"/>
                </c:ext>
              </c:extLst>
            </c:dLbl>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0"/>
            <c:showCatName val="1"/>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strRef>
              <c:f>Insights!$A$60:$A$62</c:f>
              <c:strCache>
                <c:ptCount val="2"/>
                <c:pt idx="0">
                  <c:v>A</c:v>
                </c:pt>
                <c:pt idx="1">
                  <c:v>B</c:v>
                </c:pt>
              </c:strCache>
            </c:strRef>
          </c:cat>
          <c:val>
            <c:numRef>
              <c:f>Insights!$B$60:$B$62</c:f>
              <c:numCache>
                <c:formatCode>General</c:formatCode>
                <c:ptCount val="2"/>
                <c:pt idx="0">
                  <c:v>138</c:v>
                </c:pt>
                <c:pt idx="1">
                  <c:v>75</c:v>
                </c:pt>
              </c:numCache>
            </c:numRef>
          </c:val>
          <c:extLst>
            <c:ext xmlns:c16="http://schemas.microsoft.com/office/drawing/2014/chart" uri="{C3380CC4-5D6E-409C-BE32-E72D297353CC}">
              <c16:uniqueId val="{00000004-344E-4BF6-9A03-7487AE08887E}"/>
            </c:ext>
          </c:extLst>
        </c:ser>
        <c:dLbls>
          <c:dLblPos val="inEnd"/>
          <c:showLegendKey val="0"/>
          <c:showVal val="0"/>
          <c:showCatName val="0"/>
          <c:showSerName val="0"/>
          <c:showPercent val="1"/>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[Campaign_Data_Week1.xlsx]Insights!PivotTable4</c:name>
    <c:fmtId val="53"/>
  </c:pivotSource>
  <c:chart>
    <c:autoTitleDeleted val="1"/>
    <c:pivotFmts>
      <c:pivotFmt>
        <c:idx val="0"/>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circle"/>
          <c:size val="6"/>
        </c:marker>
        <c:dLbl>
          <c:idx val="0"/>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1"/>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layout>
            <c:manualLayout>
              <c:x val="1.4935134515973896E-3"/>
              <c:y val="-9.7981191997712755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2"/>
        <c:spPr>
          <a:solidFill>
            <a:schemeClr val="accent6">
              <a:alpha val="90000"/>
            </a:schemeClr>
          </a:solidFill>
          <a:ln w="19050">
            <a:solidFill>
              <a:schemeClr val="accent6">
                <a:lumMod val="75000"/>
              </a:schemeClr>
            </a:solidFill>
          </a:ln>
          <a:effectLst>
            <a:innerShdw blurRad="114300">
              <a:schemeClr val="accent6">
                <a:lumMod val="75000"/>
              </a:schemeClr>
            </a:innerShdw>
          </a:effectLst>
          <a:scene3d>
            <a:camera prst="orthographicFront"/>
            <a:lightRig rig="threePt" dir="t"/>
          </a:scene3d>
          <a:sp3d contourW="19050" prstMaterial="flat">
            <a:contourClr>
              <a:schemeClr val="accent6">
                <a:lumMod val="75000"/>
              </a:schemeClr>
            </a:contourClr>
          </a:sp3d>
        </c:spPr>
        <c:dLbl>
          <c:idx val="0"/>
          <c:layout>
            <c:manualLayout>
              <c:x val="6.4620580334544056E-2"/>
              <c:y val="-0.10743248359902023"/>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3"/>
        <c:spPr>
          <a:solidFill>
            <a:schemeClr val="accent5">
              <a:alpha val="90000"/>
            </a:schemeClr>
          </a:solidFill>
          <a:ln w="19050">
            <a:solidFill>
              <a:schemeClr val="accent5">
                <a:lumMod val="75000"/>
              </a:schemeClr>
            </a:solidFill>
          </a:ln>
          <a:effectLst>
            <a:innerShdw blurRad="114300">
              <a:schemeClr val="accent5">
                <a:lumMod val="75000"/>
              </a:schemeClr>
            </a:innerShdw>
          </a:effectLst>
          <a:scene3d>
            <a:camera prst="orthographicFront"/>
            <a:lightRig rig="threePt" dir="t"/>
          </a:scene3d>
          <a:sp3d contourW="19050" prstMaterial="flat">
            <a:contourClr>
              <a:schemeClr val="accent5">
                <a:lumMod val="75000"/>
              </a:schemeClr>
            </a:contourClr>
          </a:sp3d>
        </c:spPr>
        <c:dLbl>
          <c:idx val="0"/>
          <c:layout>
            <c:manualLayout>
              <c:x val="-2.3392071298455126E-2"/>
              <c:y val="7.7219444723482184E-3"/>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4"/>
        <c:spPr>
          <a:solidFill>
            <a:schemeClr val="accent4">
              <a:alpha val="90000"/>
            </a:schemeClr>
          </a:solidFill>
          <a:ln w="19050">
            <a:solidFill>
              <a:schemeClr val="accent4">
                <a:lumMod val="75000"/>
              </a:schemeClr>
            </a:solidFill>
          </a:ln>
          <a:effectLst>
            <a:innerShdw blurRad="114300">
              <a:schemeClr val="accent4">
                <a:lumMod val="75000"/>
              </a:schemeClr>
            </a:innerShdw>
          </a:effectLst>
          <a:scene3d>
            <a:camera prst="orthographicFront"/>
            <a:lightRig rig="threePt" dir="t"/>
          </a:scene3d>
          <a:sp3d contourW="19050" prstMaterial="flat">
            <a:contourClr>
              <a:schemeClr val="accent4">
                <a:lumMod val="75000"/>
              </a:schemeClr>
            </a:contourClr>
          </a:sp3d>
        </c:spPr>
        <c:dLbl>
          <c:idx val="0"/>
          <c:layout>
            <c:manualLayout>
              <c:x val="-1.8928380081067998E-2"/>
              <c:y val="-3.647361547912497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5"/>
        <c:spPr>
          <a:solidFill>
            <a:schemeClr val="accent3">
              <a:alpha val="90000"/>
            </a:schemeClr>
          </a:solidFill>
          <a:ln w="19050">
            <a:solidFill>
              <a:schemeClr val="accent3">
                <a:lumMod val="75000"/>
              </a:schemeClr>
            </a:solidFill>
          </a:ln>
          <a:effectLst>
            <a:innerShdw blurRad="114300">
              <a:schemeClr val="accent3">
                <a:lumMod val="75000"/>
              </a:schemeClr>
            </a:innerShdw>
          </a:effectLst>
          <a:scene3d>
            <a:camera prst="orthographicFront"/>
            <a:lightRig rig="threePt" dir="t"/>
          </a:scene3d>
          <a:sp3d contourW="19050" prstMaterial="flat">
            <a:contourClr>
              <a:schemeClr val="accent3">
                <a:lumMod val="75000"/>
              </a:schemeClr>
            </a:contourClr>
          </a:sp3d>
        </c:spPr>
        <c:dLbl>
          <c:idx val="0"/>
          <c:layout>
            <c:manualLayout>
              <c:x val="-8.862350676367238E-3"/>
              <c:y val="-1.8404951589098467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6"/>
        <c:spPr>
          <a:solidFill>
            <a:schemeClr val="accent2">
              <a:alpha val="90000"/>
            </a:schemeClr>
          </a:solidFill>
          <a:ln w="19050">
            <a:solidFill>
              <a:schemeClr val="accent2">
                <a:lumMod val="75000"/>
              </a:schemeClr>
            </a:solidFill>
          </a:ln>
          <a:effectLst>
            <a:innerShdw blurRad="114300">
              <a:schemeClr val="accent2">
                <a:lumMod val="75000"/>
              </a:schemeClr>
            </a:innerShdw>
          </a:effectLst>
          <a:scene3d>
            <a:camera prst="orthographicFront"/>
            <a:lightRig rig="threePt" dir="t"/>
          </a:scene3d>
          <a:sp3d contourW="19050" prstMaterial="flat">
            <a:contourClr>
              <a:schemeClr val="accent2">
                <a:lumMod val="75000"/>
              </a:schemeClr>
            </a:contourClr>
          </a:sp3d>
        </c:spPr>
        <c:dLbl>
          <c:idx val="0"/>
          <c:layout>
            <c:manualLayout>
              <c:x val="-7.7662847282522346E-2"/>
              <c:y val="0.1457921538021681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7"/>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none"/>
        </c:marker>
        <c:dLbl>
          <c:idx val="0"/>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8"/>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layout>
            <c:manualLayout>
              <c:x val="1.4935134515973896E-3"/>
              <c:y val="-9.7981191997712755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9"/>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layout>
            <c:manualLayout>
              <c:x val="-7.7662847282522346E-2"/>
              <c:y val="0.1457921538021681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10"/>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layout>
            <c:manualLayout>
              <c:x val="-8.862350676367238E-3"/>
              <c:y val="-1.8404951589098467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11"/>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layout>
            <c:manualLayout>
              <c:x val="-1.8928380081067998E-2"/>
              <c:y val="-3.647361547912497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12"/>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layout>
            <c:manualLayout>
              <c:x val="-2.3392071298455126E-2"/>
              <c:y val="7.7219444723482184E-3"/>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13"/>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layout>
            <c:manualLayout>
              <c:x val="6.4620580334544056E-2"/>
              <c:y val="-0.10743248359902023"/>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14"/>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marker>
          <c:symbol val="none"/>
        </c:marker>
        <c:dLbl>
          <c:idx val="0"/>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extLst>
            <c:ext xmlns:c15="http://schemas.microsoft.com/office/drawing/2012/chart" uri="{CE6537A1-D6FC-4f65-9D91-7224C49458BB}"/>
          </c:extLst>
        </c:dLbl>
      </c:pivotFmt>
      <c:pivotFmt>
        <c:idx val="15"/>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layout>
            <c:manualLayout>
              <c:x val="1.4935134515973896E-3"/>
              <c:y val="-9.7981191997712755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16"/>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layout>
            <c:manualLayout>
              <c:x val="-7.7662847282522346E-2"/>
              <c:y val="0.1457921538021681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17"/>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layout>
            <c:manualLayout>
              <c:x val="-8.862350676367238E-3"/>
              <c:y val="-1.8404951589098467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18"/>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layout>
            <c:manualLayout>
              <c:x val="-1.8928380081067998E-2"/>
              <c:y val="-3.647361547912497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19"/>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layout>
            <c:manualLayout>
              <c:x val="-2.3392071298455126E-2"/>
              <c:y val="7.7219444723482184E-3"/>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
        <c:idx val="20"/>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dLbl>
          <c:idx val="0"/>
          <c:layout>
            <c:manualLayout>
              <c:x val="6.4620580334544056E-2"/>
              <c:y val="-0.10743248359902023"/>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Lst>
        </c:dLbl>
      </c:pivotFmt>
    </c:pivotFmts>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6.0065696855936178E-2"/>
          <c:y val="0.25077542441640333"/>
          <c:w val="0.93888888888888888"/>
          <c:h val="0.6234324876057159"/>
        </c:manualLayout>
      </c:layout>
      <c:pie3DChart>
        <c:varyColors val="1"/>
        <c:ser>
          <c:idx val="0"/>
          <c:order val="0"/>
          <c:tx>
            <c:strRef>
              <c:f>Insights!$B$79</c:f>
              <c:strCache>
                <c:ptCount val="1"/>
                <c:pt idx="0">
                  <c:v>Total</c:v>
                </c:pt>
              </c:strCache>
            </c:strRef>
          </c:tx>
          <c:dPt>
            <c:idx val="0"/>
            <c:bubble3D val="0"/>
            <c:spPr>
              <a:solidFill>
                <a:schemeClr val="accent1">
                  <a:alpha val="90000"/>
                </a:schemeClr>
              </a:solidFill>
              <a:ln w="19050">
                <a:solidFill>
                  <a:schemeClr val="accent1">
                    <a:lumMod val="75000"/>
                  </a:schemeClr>
                </a:solidFill>
              </a:ln>
              <a:effectLst>
                <a:innerShdw blurRad="114300">
                  <a:schemeClr val="accent1">
                    <a:lumMod val="75000"/>
                  </a:schemeClr>
                </a:innerShdw>
              </a:effectLst>
              <a:scene3d>
                <a:camera prst="orthographicFront"/>
                <a:lightRig rig="threePt" dir="t"/>
              </a:scene3d>
              <a:sp3d contourW="19050" prstMaterial="flat">
                <a:contourClr>
                  <a:schemeClr val="accent1">
                    <a:lumMod val="75000"/>
                  </a:schemeClr>
                </a:contourClr>
              </a:sp3d>
            </c:spPr>
            <c:extLst>
              <c:ext xmlns:c16="http://schemas.microsoft.com/office/drawing/2014/chart" uri="{C3380CC4-5D6E-409C-BE32-E72D297353CC}">
                <c16:uniqueId val="{00000001-5CB7-443F-9311-CFDDCC4BE071}"/>
              </c:ext>
            </c:extLst>
          </c:dPt>
          <c:dPt>
            <c:idx val="1"/>
            <c:bubble3D val="0"/>
            <c:spPr>
              <a:solidFill>
                <a:schemeClr val="accent2">
                  <a:alpha val="90000"/>
                </a:schemeClr>
              </a:solidFill>
              <a:ln w="19050">
                <a:solidFill>
                  <a:schemeClr val="accent2">
                    <a:lumMod val="75000"/>
                  </a:schemeClr>
                </a:solidFill>
              </a:ln>
              <a:effectLst>
                <a:innerShdw blurRad="114300">
                  <a:schemeClr val="accent2">
                    <a:lumMod val="75000"/>
                  </a:schemeClr>
                </a:innerShdw>
              </a:effectLst>
              <a:scene3d>
                <a:camera prst="orthographicFront"/>
                <a:lightRig rig="threePt" dir="t"/>
              </a:scene3d>
              <a:sp3d contourW="19050" prstMaterial="flat">
                <a:contourClr>
                  <a:schemeClr val="accent2">
                    <a:lumMod val="75000"/>
                  </a:schemeClr>
                </a:contourClr>
              </a:sp3d>
            </c:spPr>
            <c:extLst>
              <c:ext xmlns:c16="http://schemas.microsoft.com/office/drawing/2014/chart" uri="{C3380CC4-5D6E-409C-BE32-E72D297353CC}">
                <c16:uniqueId val="{00000003-5CB7-443F-9311-CFDDCC4BE071}"/>
              </c:ext>
            </c:extLst>
          </c:dPt>
          <c:dPt>
            <c:idx val="2"/>
            <c:bubble3D val="0"/>
            <c:spPr>
              <a:solidFill>
                <a:schemeClr val="accent3">
                  <a:alpha val="90000"/>
                </a:schemeClr>
              </a:solidFill>
              <a:ln w="19050">
                <a:solidFill>
                  <a:schemeClr val="accent3">
                    <a:lumMod val="75000"/>
                  </a:schemeClr>
                </a:solidFill>
              </a:ln>
              <a:effectLst>
                <a:innerShdw blurRad="114300">
                  <a:schemeClr val="accent3">
                    <a:lumMod val="75000"/>
                  </a:schemeClr>
                </a:innerShdw>
              </a:effectLst>
              <a:scene3d>
                <a:camera prst="orthographicFront"/>
                <a:lightRig rig="threePt" dir="t"/>
              </a:scene3d>
              <a:sp3d contourW="19050" prstMaterial="flat">
                <a:contourClr>
                  <a:schemeClr val="accent3">
                    <a:lumMod val="75000"/>
                  </a:schemeClr>
                </a:contourClr>
              </a:sp3d>
            </c:spPr>
            <c:extLst>
              <c:ext xmlns:c16="http://schemas.microsoft.com/office/drawing/2014/chart" uri="{C3380CC4-5D6E-409C-BE32-E72D297353CC}">
                <c16:uniqueId val="{00000005-5CB7-443F-9311-CFDDCC4BE071}"/>
              </c:ext>
            </c:extLst>
          </c:dPt>
          <c:dPt>
            <c:idx val="3"/>
            <c:bubble3D val="0"/>
            <c:spPr>
              <a:solidFill>
                <a:schemeClr val="accent4">
                  <a:alpha val="90000"/>
                </a:schemeClr>
              </a:solidFill>
              <a:ln w="19050">
                <a:solidFill>
                  <a:schemeClr val="accent4">
                    <a:lumMod val="75000"/>
                  </a:schemeClr>
                </a:solidFill>
              </a:ln>
              <a:effectLst>
                <a:innerShdw blurRad="114300">
                  <a:schemeClr val="accent4">
                    <a:lumMod val="75000"/>
                  </a:schemeClr>
                </a:innerShdw>
              </a:effectLst>
              <a:scene3d>
                <a:camera prst="orthographicFront"/>
                <a:lightRig rig="threePt" dir="t"/>
              </a:scene3d>
              <a:sp3d contourW="19050" prstMaterial="flat">
                <a:contourClr>
                  <a:schemeClr val="accent4">
                    <a:lumMod val="75000"/>
                  </a:schemeClr>
                </a:contourClr>
              </a:sp3d>
            </c:spPr>
            <c:extLst>
              <c:ext xmlns:c16="http://schemas.microsoft.com/office/drawing/2014/chart" uri="{C3380CC4-5D6E-409C-BE32-E72D297353CC}">
                <c16:uniqueId val="{00000007-5CB7-443F-9311-CFDDCC4BE071}"/>
              </c:ext>
            </c:extLst>
          </c:dPt>
          <c:dPt>
            <c:idx val="4"/>
            <c:bubble3D val="0"/>
            <c:spPr>
              <a:solidFill>
                <a:schemeClr val="accent5">
                  <a:alpha val="90000"/>
                </a:schemeClr>
              </a:solidFill>
              <a:ln w="19050">
                <a:solidFill>
                  <a:schemeClr val="accent5">
                    <a:lumMod val="75000"/>
                  </a:schemeClr>
                </a:solidFill>
              </a:ln>
              <a:effectLst>
                <a:innerShdw blurRad="114300">
                  <a:schemeClr val="accent5">
                    <a:lumMod val="75000"/>
                  </a:schemeClr>
                </a:innerShdw>
              </a:effectLst>
              <a:scene3d>
                <a:camera prst="orthographicFront"/>
                <a:lightRig rig="threePt" dir="t"/>
              </a:scene3d>
              <a:sp3d contourW="19050" prstMaterial="flat">
                <a:contourClr>
                  <a:schemeClr val="accent5">
                    <a:lumMod val="75000"/>
                  </a:schemeClr>
                </a:contourClr>
              </a:sp3d>
            </c:spPr>
            <c:extLst>
              <c:ext xmlns:c16="http://schemas.microsoft.com/office/drawing/2014/chart" uri="{C3380CC4-5D6E-409C-BE32-E72D297353CC}">
                <c16:uniqueId val="{00000009-5CB7-443F-9311-CFDDCC4BE071}"/>
              </c:ext>
            </c:extLst>
          </c:dPt>
          <c:dPt>
            <c:idx val="5"/>
            <c:bubble3D val="0"/>
            <c:spPr>
              <a:solidFill>
                <a:schemeClr val="accent6">
                  <a:alpha val="90000"/>
                </a:schemeClr>
              </a:solidFill>
              <a:ln w="19050">
                <a:solidFill>
                  <a:schemeClr val="accent6">
                    <a:lumMod val="75000"/>
                  </a:schemeClr>
                </a:solidFill>
              </a:ln>
              <a:effectLst>
                <a:innerShdw blurRad="114300">
                  <a:schemeClr val="accent6">
                    <a:lumMod val="75000"/>
                  </a:schemeClr>
                </a:innerShdw>
              </a:effectLst>
              <a:scene3d>
                <a:camera prst="orthographicFront"/>
                <a:lightRig rig="threePt" dir="t"/>
              </a:scene3d>
              <a:sp3d contourW="19050" prstMaterial="flat">
                <a:contourClr>
                  <a:schemeClr val="accent6">
                    <a:lumMod val="75000"/>
                  </a:schemeClr>
                </a:contourClr>
              </a:sp3d>
            </c:spPr>
            <c:extLst>
              <c:ext xmlns:c16="http://schemas.microsoft.com/office/drawing/2014/chart" uri="{C3380CC4-5D6E-409C-BE32-E72D297353CC}">
                <c16:uniqueId val="{0000000B-5CB7-443F-9311-CFDDCC4BE071}"/>
              </c:ext>
            </c:extLst>
          </c:dPt>
          <c:dLbls>
            <c:dLbl>
              <c:idx val="0"/>
              <c:layout>
                <c:manualLayout>
                  <c:x val="1.4935134515973896E-3"/>
                  <c:y val="-9.7981191997712755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1-5CB7-443F-9311-CFDDCC4BE071}"/>
                </c:ext>
              </c:extLst>
            </c:dLbl>
            <c:dLbl>
              <c:idx val="1"/>
              <c:layout>
                <c:manualLayout>
                  <c:x val="-7.7662847282522346E-2"/>
                  <c:y val="0.1457921538021681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2"/>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5CB7-443F-9311-CFDDCC4BE071}"/>
                </c:ext>
              </c:extLst>
            </c:dLbl>
            <c:dLbl>
              <c:idx val="2"/>
              <c:layout>
                <c:manualLayout>
                  <c:x val="-8.862350676367238E-3"/>
                  <c:y val="-1.8404951589098467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3"/>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5CB7-443F-9311-CFDDCC4BE071}"/>
                </c:ext>
              </c:extLst>
            </c:dLbl>
            <c:dLbl>
              <c:idx val="3"/>
              <c:layout>
                <c:manualLayout>
                  <c:x val="-1.8928380081067998E-2"/>
                  <c:y val="-3.647361547912497E-2"/>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4"/>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5CB7-443F-9311-CFDDCC4BE071}"/>
                </c:ext>
              </c:extLst>
            </c:dLbl>
            <c:dLbl>
              <c:idx val="4"/>
              <c:layout>
                <c:manualLayout>
                  <c:x val="-2.3392071298455126E-2"/>
                  <c:y val="7.7219444723482184E-3"/>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5"/>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5CB7-443F-9311-CFDDCC4BE071}"/>
                </c:ext>
              </c:extLst>
            </c:dLbl>
            <c:dLbl>
              <c:idx val="5"/>
              <c:layout>
                <c:manualLayout>
                  <c:x val="6.4620580334544056E-2"/>
                  <c:y val="-0.10743248359902023"/>
                </c:manualLayout>
              </c:layout>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6"/>
                      </a:solidFill>
                      <a:effectLst/>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5CB7-443F-9311-CFDDCC4BE071}"/>
                </c:ext>
              </c:extLst>
            </c:dLbl>
            <c:spPr>
              <a:solidFill>
                <a:sysClr val="window" lastClr="FFFFFF">
                  <a:alpha val="90000"/>
                </a:sysClr>
              </a:solidFill>
              <a:ln w="12700" cap="flat" cmpd="sng" algn="ctr">
                <a:solidFill>
                  <a:srgbClr val="156082"/>
                </a:solidFill>
                <a:round/>
              </a:ln>
              <a:effectLst>
                <a:outerShdw blurRad="50800" dist="38100" dir="2700000" algn="tl" rotWithShape="0">
                  <a:srgbClr val="156082">
                    <a:lumMod val="75000"/>
                    <a:alpha val="40000"/>
                  </a:srgbClr>
                </a:outerShdw>
              </a:effectLst>
            </c:spPr>
            <c:txPr>
              <a:bodyPr rot="0" spcFirstLastPara="1" vertOverflow="clip" horzOverflow="clip" vert="horz" wrap="square" lIns="38100" tIns="19050" rIns="38100" bIns="19050" anchor="ctr" anchorCtr="1">
                <a:spAutoFit/>
              </a:bodyPr>
              <a:lstStyle/>
              <a:p>
                <a:pPr>
                  <a:defRPr sz="1000" b="0" i="0" u="none" strike="noStrike" kern="1200" baseline="0">
                    <a:solidFill>
                      <a:schemeClr val="accent1"/>
                    </a:solidFill>
                    <a:effectLst/>
                    <a:latin typeface="+mn-lt"/>
                    <a:ea typeface="+mn-ea"/>
                    <a:cs typeface="+mn-cs"/>
                  </a:defRPr>
                </a:pPr>
                <a:endParaRPr lang="en-US"/>
              </a:p>
            </c:txPr>
            <c:dLblPos val="inEnd"/>
            <c:showLegendKey val="0"/>
            <c:showVal val="1"/>
            <c:showCatName val="1"/>
            <c:showSerName val="0"/>
            <c:showPercent val="1"/>
            <c:showBubbleSize val="0"/>
            <c:showLeaderLines val="1"/>
            <c:leaderLines>
              <c:spPr>
                <a:ln w="9525">
                  <a:solidFill>
                    <a:schemeClr val="tx1">
                      <a:lumMod val="35000"/>
                      <a:lumOff val="65000"/>
                    </a:schemeClr>
                  </a:solidFill>
                </a:ln>
                <a:effectLst/>
              </c:spPr>
            </c:leaderLines>
            <c:extLst>
              <c:ext xmlns:c15="http://schemas.microsoft.com/office/drawing/2012/chart" uri="{CE6537A1-D6FC-4f65-9D91-7224C49458BB}"/>
            </c:extLst>
          </c:dLbls>
          <c:cat>
            <c:multiLvlStrRef>
              <c:f>Insights!$A$80:$A$88</c:f>
              <c:multiLvlStrCache>
                <c:ptCount val="6"/>
                <c:lvl>
                  <c:pt idx="0">
                    <c:v>Email</c:v>
                  </c:pt>
                  <c:pt idx="1">
                    <c:v>Instagram</c:v>
                  </c:pt>
                  <c:pt idx="2">
                    <c:v>Web Banner</c:v>
                  </c:pt>
                  <c:pt idx="3">
                    <c:v>Email</c:v>
                  </c:pt>
                  <c:pt idx="4">
                    <c:v>Instagram</c:v>
                  </c:pt>
                  <c:pt idx="5">
                    <c:v>Web Banner</c:v>
                  </c:pt>
                </c:lvl>
                <c:lvl>
                  <c:pt idx="0">
                    <c:v>A</c:v>
                  </c:pt>
                  <c:pt idx="3">
                    <c:v>B</c:v>
                  </c:pt>
                </c:lvl>
              </c:multiLvlStrCache>
            </c:multiLvlStrRef>
          </c:cat>
          <c:val>
            <c:numRef>
              <c:f>Insights!$B$80:$B$88</c:f>
              <c:numCache>
                <c:formatCode>General</c:formatCode>
                <c:ptCount val="6"/>
                <c:pt idx="0">
                  <c:v>47</c:v>
                </c:pt>
                <c:pt idx="1">
                  <c:v>48</c:v>
                </c:pt>
                <c:pt idx="2">
                  <c:v>43</c:v>
                </c:pt>
                <c:pt idx="3">
                  <c:v>31</c:v>
                </c:pt>
                <c:pt idx="4">
                  <c:v>20</c:v>
                </c:pt>
                <c:pt idx="5">
                  <c:v>24</c:v>
                </c:pt>
              </c:numCache>
            </c:numRef>
          </c:val>
          <c:extLst>
            <c:ext xmlns:c16="http://schemas.microsoft.com/office/drawing/2014/chart" uri="{C3380CC4-5D6E-409C-BE32-E72D297353CC}">
              <c16:uniqueId val="{0000000C-5CB7-443F-9311-CFDDCC4BE071}"/>
            </c:ext>
          </c:extLst>
        </c:ser>
        <c:dLbls>
          <c:dLblPos val="inEnd"/>
          <c:showLegendKey val="0"/>
          <c:showVal val="1"/>
          <c:showCatName val="0"/>
          <c:showSerName val="0"/>
          <c:showPercent val="0"/>
          <c:showBubbleSize val="0"/>
          <c:showLeaderLines val="1"/>
        </c:dLbls>
      </c:pie3D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2">
                  <a:lumMod val="10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63">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styleClr val="auto"/>
    </cs:lnRef>
    <cs:fillRef idx="0"/>
    <cs:effectRef idx="0">
      <cs:styleClr val="auto"/>
    </cs:effectRef>
    <cs:fontRef idx="minor">
      <cs:styleClr val="auto"/>
    </cs:fontRef>
    <cs:spPr>
      <a:solidFill>
        <a:schemeClr val="lt1">
          <a:alpha val="90000"/>
        </a:schemeClr>
      </a:solidFill>
      <a:ln w="12700" cap="flat" cmpd="sng" algn="ctr">
        <a:solidFill>
          <a:schemeClr val="phClr"/>
        </a:solidFill>
        <a:round/>
      </a:ln>
      <a:effectLst>
        <a:outerShdw blurRad="50800" dist="38100" dir="2700000" algn="tl" rotWithShape="0">
          <a:schemeClr val="phClr">
            <a:lumMod val="75000"/>
            <a:alpha val="40000"/>
          </a:schemeClr>
        </a:outerShdw>
      </a:effectLst>
    </cs:spPr>
    <cs:defRPr sz="1000" b="0" i="0" u="none" strike="noStrike" kern="1200" baseline="0">
      <a:effectLst/>
    </cs:defRPr>
    <cs:bodyPr rot="0" spcFirstLastPara="1" vertOverflow="clip" horzOverflow="clip" vert="horz" wrap="square" lIns="38100" tIns="19050" rIns="38100" bIns="19050" anchor="ctr" anchorCtr="1">
      <a:spAutoFit/>
    </cs:bodyPr>
  </cs:dataLabel>
  <cs:dataLabelCallout>
    <cs:lnRef idx="0">
      <cs:styleClr val="auto"/>
    </cs:lnRef>
    <cs:fillRef idx="0"/>
    <cs:effectRef idx="0">
      <cs:styleClr val="auto"/>
    </cs:effectRef>
    <cs:fontRef idx="minor">
      <cs:styleClr val="auto"/>
    </cs:fontRef>
    <cs:spPr>
      <a:solidFill>
        <a:schemeClr val="lt1">
          <a:alpha val="90000"/>
        </a:schemeClr>
      </a:solidFill>
      <a:ln w="12700" cap="flat" cmpd="sng" algn="ctr">
        <a:solidFill>
          <a:schemeClr val="phClr"/>
        </a:solidFill>
        <a:round/>
      </a:ln>
      <a:effectLst>
        <a:outerShdw blurRad="50800" dist="38100" dir="2700000" algn="tl" rotWithShape="0">
          <a:schemeClr val="phClr">
            <a:lumMod val="75000"/>
            <a:alpha val="40000"/>
          </a:schemeClr>
        </a:outerShdw>
      </a:effectLst>
    </cs:spPr>
    <cs:defRPr sz="1000" b="0" i="0" u="none" strike="noStrike" kern="1200" baseline="0">
      <a:effectLst/>
    </cs:defRPr>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styleClr val="auto"/>
    </cs:lnRef>
    <cs:fillRef idx="0">
      <cs:styleClr val="auto"/>
    </cs:fillRef>
    <cs:effectRef idx="0">
      <cs:styleClr val="auto"/>
    </cs:effectRef>
    <cs:fontRef idx="minor">
      <a:schemeClr val="tx1"/>
    </cs:fontRef>
    <cs:spPr>
      <a:solidFill>
        <a:schemeClr val="phClr">
          <a:alpha val="90000"/>
        </a:schemeClr>
      </a:solidFill>
      <a:ln w="19050">
        <a:solidFill>
          <a:schemeClr val="phClr">
            <a:lumMod val="75000"/>
          </a:schemeClr>
        </a:solidFill>
      </a:ln>
      <a:effectLst>
        <a:innerShdw blurRad="114300">
          <a:schemeClr val="phClr">
            <a:lumMod val="75000"/>
          </a:schemeClr>
        </a:innerShdw>
      </a:effectLst>
      <a:scene3d>
        <a:camera prst="orthographicFront"/>
        <a:lightRig rig="threePt" dir="t"/>
      </a:scene3d>
      <a:sp3d contourW="19050" prstMaterial="flat">
        <a:contourClr>
          <a:schemeClr val="accent4">
            <a:lumMod val="75000"/>
          </a:schemeClr>
        </a:contourClr>
      </a:sp3d>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spc="20" baseline="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63">
  <cs:axisTitle>
    <cs:lnRef idx="0"/>
    <cs:fillRef idx="0"/>
    <cs:effectRef idx="0"/>
    <cs:fontRef idx="minor">
      <a:schemeClr val="tx1">
        <a:lumMod val="50000"/>
        <a:lumOff val="50000"/>
      </a:schemeClr>
    </cs:fontRef>
    <cs:defRPr sz="900" kern="1200"/>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styleClr val="auto"/>
    </cs:lnRef>
    <cs:fillRef idx="0"/>
    <cs:effectRef idx="0">
      <cs:styleClr val="auto"/>
    </cs:effectRef>
    <cs:fontRef idx="minor">
      <cs:styleClr val="auto"/>
    </cs:fontRef>
    <cs:spPr>
      <a:solidFill>
        <a:schemeClr val="lt1">
          <a:alpha val="90000"/>
        </a:schemeClr>
      </a:solidFill>
      <a:ln w="12700" cap="flat" cmpd="sng" algn="ctr">
        <a:solidFill>
          <a:schemeClr val="phClr"/>
        </a:solidFill>
        <a:round/>
      </a:ln>
      <a:effectLst>
        <a:outerShdw blurRad="50800" dist="38100" dir="2700000" algn="tl" rotWithShape="0">
          <a:schemeClr val="phClr">
            <a:lumMod val="75000"/>
            <a:alpha val="40000"/>
          </a:schemeClr>
        </a:outerShdw>
      </a:effectLst>
    </cs:spPr>
    <cs:defRPr sz="1000" b="0" i="0" u="none" strike="noStrike" kern="1200" baseline="0">
      <a:effectLst/>
    </cs:defRPr>
    <cs:bodyPr rot="0" spcFirstLastPara="1" vertOverflow="clip" horzOverflow="clip" vert="horz" wrap="square" lIns="38100" tIns="19050" rIns="38100" bIns="19050" anchor="ctr" anchorCtr="1">
      <a:spAutoFit/>
    </cs:bodyPr>
  </cs:dataLabel>
  <cs:dataLabelCallout>
    <cs:lnRef idx="0">
      <cs:styleClr val="auto"/>
    </cs:lnRef>
    <cs:fillRef idx="0"/>
    <cs:effectRef idx="0">
      <cs:styleClr val="auto"/>
    </cs:effectRef>
    <cs:fontRef idx="minor">
      <cs:styleClr val="auto"/>
    </cs:fontRef>
    <cs:spPr>
      <a:solidFill>
        <a:schemeClr val="lt1">
          <a:alpha val="90000"/>
        </a:schemeClr>
      </a:solidFill>
      <a:ln w="12700" cap="flat" cmpd="sng" algn="ctr">
        <a:solidFill>
          <a:schemeClr val="phClr"/>
        </a:solidFill>
        <a:round/>
      </a:ln>
      <a:effectLst>
        <a:outerShdw blurRad="50800" dist="38100" dir="2700000" algn="tl" rotWithShape="0">
          <a:schemeClr val="phClr">
            <a:lumMod val="75000"/>
            <a:alpha val="40000"/>
          </a:schemeClr>
        </a:outerShdw>
      </a:effectLst>
    </cs:spPr>
    <cs:defRPr sz="1000" b="0" i="0" u="none" strike="noStrike" kern="1200" baseline="0">
      <a:effectLst/>
    </cs:defRPr>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alpha val="70000"/>
        </a:schemeClr>
      </a:solidFill>
    </cs:spPr>
  </cs:dataPoint>
  <cs:dataPoint3D>
    <cs:lnRef idx="0">
      <cs:styleClr val="auto"/>
    </cs:lnRef>
    <cs:fillRef idx="0">
      <cs:styleClr val="auto"/>
    </cs:fillRef>
    <cs:effectRef idx="0">
      <cs:styleClr val="auto"/>
    </cs:effectRef>
    <cs:fontRef idx="minor">
      <a:schemeClr val="tx1"/>
    </cs:fontRef>
    <cs:spPr>
      <a:solidFill>
        <a:schemeClr val="phClr">
          <a:alpha val="90000"/>
        </a:schemeClr>
      </a:solidFill>
      <a:ln w="19050">
        <a:solidFill>
          <a:schemeClr val="phClr">
            <a:lumMod val="75000"/>
          </a:schemeClr>
        </a:solidFill>
      </a:ln>
      <a:effectLst>
        <a:innerShdw blurRad="114300">
          <a:schemeClr val="phClr">
            <a:lumMod val="75000"/>
          </a:schemeClr>
        </a:innerShdw>
      </a:effectLst>
      <a:scene3d>
        <a:camera prst="orthographicFront"/>
        <a:lightRig rig="threePt" dir="t"/>
      </a:scene3d>
      <a:sp3d contourW="19050" prstMaterial="flat">
        <a:contourClr>
          <a:schemeClr val="accent4">
            <a:lumMod val="75000"/>
          </a:schemeClr>
        </a:contourClr>
      </a:sp3d>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spc="20" baseline="0"/>
  </cs:valueAxis>
  <cs:wall>
    <cs:lnRef idx="0"/>
    <cs:fillRef idx="0"/>
    <cs:effectRef idx="0"/>
    <cs:fontRef idx="minor">
      <a:schemeClr val="dk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5/23/2026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5/23/2026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12" Type="http://schemas.openxmlformats.org/officeDocument/2006/relationships/chart" Target="../charts/chart4.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11" Type="http://schemas.openxmlformats.org/officeDocument/2006/relationships/chart" Target="../charts/chart3.xml"/><Relationship Id="rId5" Type="http://schemas.openxmlformats.org/officeDocument/2006/relationships/oleObject" Target="../embeddings/oleObject16.bin"/><Relationship Id="rId10" Type="http://schemas.openxmlformats.org/officeDocument/2006/relationships/chart" Target="../charts/chart2.xml"/><Relationship Id="rId4" Type="http://schemas.openxmlformats.org/officeDocument/2006/relationships/slideLayout" Target="../slideLayouts/slideLayout2.xml"/><Relationship Id="rId9"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775597"/>
          </a:xfrm>
        </p:spPr>
        <p:txBody>
          <a:bodyPr anchor="t"/>
          <a:lstStyle/>
          <a:p>
            <a:r>
              <a:rPr lang="en-US" sz="2800" dirty="0"/>
              <a:t>Campaign B + Email: The Winning Formula for New Customer Growth</a:t>
            </a:r>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 </a:t>
            </a:r>
            <a:r>
              <a:rPr lang="en-US" sz="1400" b="1" dirty="0">
                <a:solidFill>
                  <a:srgbClr val="000000"/>
                </a:solidFill>
                <a:latin typeface="Arial" panose="020B0604020202020204" pitchFamily="34" charset="0"/>
                <a:cs typeface="Arial" panose="020B0604020202020204" pitchFamily="34" charset="0"/>
              </a:rPr>
              <a:t>Double down on Campaign A + Email and Instagram to drive new customer growth. Maintain Campaign B + Email for nurturing existing customers, but shift acquisition focus toward Campaign A’s messaging style and social‑friendly tone.</a:t>
            </a:r>
          </a:p>
        </p:txBody>
      </p:sp>
      <p:sp>
        <p:nvSpPr>
          <p:cNvPr id="8" name="Rectangle 7">
            <a:extLst>
              <a:ext uri="{FF2B5EF4-FFF2-40B4-BE49-F238E27FC236}">
                <a16:creationId xmlns:a16="http://schemas.microsoft.com/office/drawing/2014/main" id="{942B0D30-68D6-1748-728E-7FA73A5976EC}"/>
              </a:ext>
            </a:extLst>
          </p:cNvPr>
          <p:cNvSpPr/>
          <p:nvPr/>
        </p:nvSpPr>
        <p:spPr>
          <a:xfrm>
            <a:off x="838228" y="1696609"/>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New Customer Sales by Channel</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4430740" cy="3005750"/>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4" name="Rectangle 53">
            <a:extLst>
              <a:ext uri="{FF2B5EF4-FFF2-40B4-BE49-F238E27FC236}">
                <a16:creationId xmlns:a16="http://schemas.microsoft.com/office/drawing/2014/main" id="{AC2F7AF7-DC76-6C1A-0458-2264EDF24BF9}"/>
              </a:ext>
            </a:extLst>
          </p:cNvPr>
          <p:cNvSpPr/>
          <p:nvPr/>
        </p:nvSpPr>
        <p:spPr>
          <a:xfrm>
            <a:off x="8684021" y="1666195"/>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chemeClr val="tx2"/>
                </a:solidFill>
              </a:rPr>
              <a:t>Share of New Customer Sales by Campaign</a:t>
            </a:r>
            <a:r>
              <a:rPr lang="en-US" sz="1200" dirty="0">
                <a:solidFill>
                  <a:schemeClr val="tx2"/>
                </a:solidFill>
              </a:rPr>
              <a:t> </a:t>
            </a:r>
            <a:endParaRPr lang="en-US" sz="1200" b="1" dirty="0">
              <a:solidFill>
                <a:schemeClr val="tx2"/>
              </a:solidFill>
            </a:endParaRP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9" name="Chart 8">
            <a:extLst>
              <a:ext uri="{FF2B5EF4-FFF2-40B4-BE49-F238E27FC236}">
                <a16:creationId xmlns:a16="http://schemas.microsoft.com/office/drawing/2014/main" id="{FA6C478B-0760-879C-54B0-ACF63901E3E4}"/>
              </a:ext>
            </a:extLst>
          </p:cNvPr>
          <p:cNvGraphicFramePr>
            <a:graphicFrameLocks/>
          </p:cNvGraphicFramePr>
          <p:nvPr>
            <p:extLst>
              <p:ext uri="{D42A27DB-BD31-4B8C-83A1-F6EECF244321}">
                <p14:modId xmlns:p14="http://schemas.microsoft.com/office/powerpoint/2010/main" val="1589110988"/>
              </p:ext>
            </p:extLst>
          </p:nvPr>
        </p:nvGraphicFramePr>
        <p:xfrm>
          <a:off x="695959" y="2155067"/>
          <a:ext cx="3146829" cy="2917264"/>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0" name="Chart 9">
            <a:extLst>
              <a:ext uri="{FF2B5EF4-FFF2-40B4-BE49-F238E27FC236}">
                <a16:creationId xmlns:a16="http://schemas.microsoft.com/office/drawing/2014/main" id="{A26D7C71-3DB7-7EED-8395-928E671AFEC4}"/>
              </a:ext>
            </a:extLst>
          </p:cNvPr>
          <p:cNvGraphicFramePr>
            <a:graphicFrameLocks/>
          </p:cNvGraphicFramePr>
          <p:nvPr>
            <p:extLst>
              <p:ext uri="{D42A27DB-BD31-4B8C-83A1-F6EECF244321}">
                <p14:modId xmlns:p14="http://schemas.microsoft.com/office/powerpoint/2010/main" val="290556584"/>
              </p:ext>
            </p:extLst>
          </p:nvPr>
        </p:nvGraphicFramePr>
        <p:xfrm>
          <a:off x="4152757" y="2155066"/>
          <a:ext cx="3013399" cy="2917265"/>
        </p:xfrm>
        <a:graphic>
          <a:graphicData uri="http://schemas.openxmlformats.org/drawingml/2006/chart">
            <c:chart xmlns:c="http://schemas.openxmlformats.org/drawingml/2006/chart" xmlns:r="http://schemas.openxmlformats.org/officeDocument/2006/relationships" r:id="rId10"/>
          </a:graphicData>
        </a:graphic>
      </p:graphicFrame>
      <p:sp>
        <p:nvSpPr>
          <p:cNvPr id="14" name="Rectangle 13">
            <a:extLst>
              <a:ext uri="{FF2B5EF4-FFF2-40B4-BE49-F238E27FC236}">
                <a16:creationId xmlns:a16="http://schemas.microsoft.com/office/drawing/2014/main" id="{98C9494C-6E13-F9BB-472F-0055E17BD1E3}"/>
              </a:ext>
            </a:extLst>
          </p:cNvPr>
          <p:cNvSpPr/>
          <p:nvPr/>
        </p:nvSpPr>
        <p:spPr>
          <a:xfrm>
            <a:off x="4371058" y="1666195"/>
            <a:ext cx="2328814" cy="461665"/>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Conversions – New Vs Existing Customers by Campaign</a:t>
            </a:r>
          </a:p>
        </p:txBody>
      </p:sp>
      <p:graphicFrame>
        <p:nvGraphicFramePr>
          <p:cNvPr id="15" name="Chart 14">
            <a:extLst>
              <a:ext uri="{FF2B5EF4-FFF2-40B4-BE49-F238E27FC236}">
                <a16:creationId xmlns:a16="http://schemas.microsoft.com/office/drawing/2014/main" id="{3A9C746C-3274-7B7D-0EE6-BD8E0043564A}"/>
              </a:ext>
            </a:extLst>
          </p:cNvPr>
          <p:cNvGraphicFramePr>
            <a:graphicFrameLocks/>
          </p:cNvGraphicFramePr>
          <p:nvPr>
            <p:extLst>
              <p:ext uri="{D42A27DB-BD31-4B8C-83A1-F6EECF244321}">
                <p14:modId xmlns:p14="http://schemas.microsoft.com/office/powerpoint/2010/main" val="601621376"/>
              </p:ext>
            </p:extLst>
          </p:nvPr>
        </p:nvGraphicFramePr>
        <p:xfrm>
          <a:off x="7061969" y="2103374"/>
          <a:ext cx="1814612" cy="1045268"/>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16" name="Chart 15">
            <a:extLst>
              <a:ext uri="{FF2B5EF4-FFF2-40B4-BE49-F238E27FC236}">
                <a16:creationId xmlns:a16="http://schemas.microsoft.com/office/drawing/2014/main" id="{7B848D75-737D-F862-FE63-631841F065E5}"/>
              </a:ext>
            </a:extLst>
          </p:cNvPr>
          <p:cNvGraphicFramePr>
            <a:graphicFrameLocks/>
          </p:cNvGraphicFramePr>
          <p:nvPr>
            <p:extLst>
              <p:ext uri="{D42A27DB-BD31-4B8C-83A1-F6EECF244321}">
                <p14:modId xmlns:p14="http://schemas.microsoft.com/office/powerpoint/2010/main" val="2541864660"/>
              </p:ext>
            </p:extLst>
          </p:nvPr>
        </p:nvGraphicFramePr>
        <p:xfrm>
          <a:off x="7309951" y="2649695"/>
          <a:ext cx="4596914" cy="2511122"/>
        </p:xfrm>
        <a:graphic>
          <a:graphicData uri="http://schemas.openxmlformats.org/drawingml/2006/chart">
            <c:chart xmlns:c="http://schemas.openxmlformats.org/drawingml/2006/chart" xmlns:r="http://schemas.openxmlformats.org/officeDocument/2006/relationships" r:id="rId12"/>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147</TotalTime>
  <Words>107</Words>
  <Application>Microsoft Office PowerPoint</Application>
  <PresentationFormat>Widescreen</PresentationFormat>
  <Paragraphs>13</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Campaign B + Email: The Winning Formula for New Customer Growth</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ADVAIT CHAVAN</cp:lastModifiedBy>
  <cp:revision>13</cp:revision>
  <cp:lastPrinted>2016-04-06T18:59:25Z</cp:lastPrinted>
  <dcterms:created xsi:type="dcterms:W3CDTF">2025-04-28T17:07:03Z</dcterms:created>
  <dcterms:modified xsi:type="dcterms:W3CDTF">2026-05-23T08:38:56Z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